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436340"/>
            <a:ext cx="7143750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AI304 PATTERN RECOGNITION PROJECT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752773" y="2686496"/>
            <a:ext cx="7638455" cy="2911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52773" y="2686496"/>
            <a:ext cx="28575" cy="291108"/>
          </a:xfrm>
          <a:prstGeom prst="rect">
            <a:avLst/>
          </a:prstGeom>
          <a:solidFill>
            <a:srgbClr val="FF0055"/>
          </a:solidFill>
          <a:ln/>
        </p:spPr>
      </p:sp>
      <p:sp>
        <p:nvSpPr>
          <p:cNvPr id="6" name="Text 3"/>
          <p:cNvSpPr/>
          <p:nvPr/>
        </p:nvSpPr>
        <p:spPr>
          <a:xfrm>
            <a:off x="752773" y="2686496"/>
            <a:ext cx="7638455" cy="29110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Face Recognition using DWT, PCA, and Machine Learning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629025" y="3477667"/>
            <a:ext cx="18859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Presented by: </a:t>
            </a: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Manus AI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29025" y="3738414"/>
            <a:ext cx="18859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Date: </a:t>
            </a: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May 10,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454060"/>
            <a:ext cx="3850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PATTERN RECOGNITION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1804104"/>
            <a:ext cx="38504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28625" y="2091640"/>
            <a:ext cx="37772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Enabling computers to identify patterns, classify data,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8625" y="2320240"/>
            <a:ext cx="37468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make intelligent decisions based on observations.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2654210"/>
            <a:ext cx="38504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8625" y="2941746"/>
            <a:ext cx="357366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Computer Vision, Medical Diagnosis, Biometrics, and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3170346"/>
            <a:ext cx="154483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Autonomous Systems.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8625" y="3504316"/>
            <a:ext cx="385048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Core field of Artificial Intelligence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64894" y="1454060"/>
            <a:ext cx="3850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64894" y="1804104"/>
            <a:ext cx="38504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Face Recognition Challenges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64894" y="2091640"/>
            <a:ext cx="37647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Accurately identifying individuals despite variations in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64894" y="2320240"/>
            <a:ext cx="24717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expression, lighting, and head pose.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64894" y="2654210"/>
            <a:ext cx="38504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Motivation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64894" y="2941746"/>
            <a:ext cx="344864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 for modern security and human-computer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64894" y="3170346"/>
            <a:ext cx="34361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interaction. Building a robust pipeline is essential.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64894" y="3504316"/>
            <a:ext cx="385048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Goal: Design an applied recognition system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DATASET: AT&amp;T DATABASE OF FACES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326059"/>
            <a:ext cx="2224553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400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71500" y="1642170"/>
            <a:ext cx="6661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IMAGES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881778" y="1326059"/>
            <a:ext cx="2224553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40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881778" y="1642170"/>
            <a:ext cx="93225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DISTINCT SUBJECTS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71500" y="1917204"/>
            <a:ext cx="453483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Resolution:</a:t>
            </a: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64x64 grayscale pixels per image.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2195810"/>
            <a:ext cx="45348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Variations:</a:t>
            </a: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Captured variations in facial expression, lighting conditions, </a:t>
            </a: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head pose (up to 20 degrees).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2667298"/>
            <a:ext cx="45348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Preprocessing:</a:t>
            </a: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Images are standardized and normalized for consistency </a:t>
            </a: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across the recognition pipeline.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09" y="1331416"/>
            <a:ext cx="1914525" cy="19145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0765" y="3303091"/>
            <a:ext cx="17002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Sample from Olivetti Dataset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PATTERN RECOGNITION PIPELINE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62258" y="1583234"/>
            <a:ext cx="12144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89890" y="1893540"/>
            <a:ext cx="8661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85750" y="2465040"/>
            <a:ext cx="147445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Loading the Olivetti Research Laboratory dataset.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47933" y="3202242"/>
            <a:ext cx="750094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SKLEARN DATA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2736754" y="1583234"/>
            <a:ext cx="12144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062562" y="1893540"/>
            <a:ext cx="146982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FEATURE EXTRACTION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60246" y="2465040"/>
            <a:ext cx="14744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Decomposing images into frequency sub-bands.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396533" y="3042233"/>
            <a:ext cx="801886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2D DWT (HAAR)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511250" y="1583234"/>
            <a:ext cx="12144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027261" y="1893540"/>
            <a:ext cx="10894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DIM. REDUCTION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34743" y="2465040"/>
            <a:ext cx="147448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Projecting data onto principal components.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171029" y="3042233"/>
            <a:ext cx="801886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PCA (95% VAR)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285774" y="1583234"/>
            <a:ext cx="12144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802678" y="1893540"/>
            <a:ext cx="108763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609267" y="2465040"/>
            <a:ext cx="14744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Training multiple ML models for recognition.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919657" y="3042233"/>
            <a:ext cx="853678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SVM | KNN | RF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8060271" y="1583234"/>
            <a:ext cx="12144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702190" y="1893540"/>
            <a:ext cx="8376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83763" y="2465040"/>
            <a:ext cx="14744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Assessing performance with standard metrics.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720050" y="3042233"/>
            <a:ext cx="801886" cy="18395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F1 | ACCURACY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FEATURE EXTRACTION: DISCRETE WAVELET TRANSFORM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511210"/>
            <a:ext cx="35647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896973"/>
            <a:ext cx="3564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Purpose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500" y="2184509"/>
            <a:ext cx="321647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Decompose facial images into multi-resolution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413109"/>
            <a:ext cx="309860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frequency components to isolate significant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641709"/>
            <a:ext cx="61972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3025685"/>
            <a:ext cx="3564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" y="3313221"/>
            <a:ext cx="305395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Applied a single-level 2D DWT using the Haar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3613259"/>
            <a:ext cx="59828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wavelet.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169789" y="3590041"/>
            <a:ext cx="1539478" cy="240013"/>
          </a:xfrm>
          <a:prstGeom prst="rect">
            <a:avLst/>
          </a:prstGeom>
          <a:solidFill>
            <a:srgbClr val="FF0055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169789" y="3590041"/>
            <a:ext cx="1539478" cy="24001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Wavelet: 'db1' (Haar)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07769" y="1511210"/>
            <a:ext cx="35647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THE OUTPUT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07769" y="1896973"/>
            <a:ext cx="3564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 Selection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007769" y="2184509"/>
            <a:ext cx="99833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Extracted the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06108" y="2184509"/>
            <a:ext cx="86618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 sub-band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72288" y="2184509"/>
            <a:ext cx="109478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(Approximation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07769" y="2413109"/>
            <a:ext cx="330755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Coefficients) which contains the low-frequency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07769" y="2641709"/>
            <a:ext cx="107692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structural data.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07769" y="3025685"/>
            <a:ext cx="35647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Benefit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07769" y="3313221"/>
            <a:ext cx="347186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Retains essential facial geometry while effectively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07769" y="3541821"/>
            <a:ext cx="308074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filtering out high-frequency noise and minor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07769" y="3770421"/>
            <a:ext cx="7108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variations.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07769" y="4225835"/>
            <a:ext cx="3564731" cy="207169"/>
          </a:xfrm>
          <a:prstGeom prst="rect">
            <a:avLst/>
          </a:prstGeom>
          <a:solidFill>
            <a:srgbClr val="FF0055">
              <a:alpha val="1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007769" y="4225835"/>
            <a:ext cx="3564731" cy="20716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Output: Flattened 1D Vectors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DIMENSIONALITY REDUCTION: PCA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325473"/>
            <a:ext cx="37933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THE CONCEPT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646941"/>
            <a:ext cx="37933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Principal Component Analysis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1500" y="1934477"/>
            <a:ext cx="328076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statistical procedure that uses an orthogonal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163077"/>
            <a:ext cx="35182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transformation to convert correlated variables into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391677"/>
            <a:ext cx="301823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linearly uncorrelated principal components.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697073"/>
            <a:ext cx="37933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 Compression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1500" y="2984609"/>
            <a:ext cx="365938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Applied to DWT features to reduce the feature space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3213209"/>
            <a:ext cx="332363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while retaining the most significant information.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79169" y="1325473"/>
            <a:ext cx="37933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79169" y="1646941"/>
            <a:ext cx="37933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Variance Preservation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79169" y="1934477"/>
            <a:ext cx="356294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Configured to retain components explaining 95% of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79169" y="2163077"/>
            <a:ext cx="364152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total variance, ensuring minimal information loss.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79169" y="2525623"/>
            <a:ext cx="3793331" cy="5429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4"/>
          <p:cNvSpPr/>
          <p:nvPr/>
        </p:nvSpPr>
        <p:spPr>
          <a:xfrm>
            <a:off x="4779169" y="2525623"/>
            <a:ext cx="28575" cy="54292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8" name="Text 15"/>
          <p:cNvSpPr/>
          <p:nvPr/>
        </p:nvSpPr>
        <p:spPr>
          <a:xfrm>
            <a:off x="4893469" y="2582773"/>
            <a:ext cx="3679031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95% Variance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893469" y="2823874"/>
            <a:ext cx="200382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3B3B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Threshold for Component Selection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779169" y="3154273"/>
            <a:ext cx="37933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Eigenfaces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79169" y="3441809"/>
            <a:ext cx="344685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resulting principal components represent the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779169" y="3670409"/>
            <a:ext cx="35218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most prominent facial features across the dataset.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CLASSIFICATION MODELS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570788"/>
            <a:ext cx="22764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" y="2031560"/>
            <a:ext cx="227645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powerful classifier that finds the optimal hyperplane in high-dimensional space. Effective for complex decision boundaries.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2997305"/>
            <a:ext cx="2276456" cy="83581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997305"/>
            <a:ext cx="2276456" cy="14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5"/>
          <p:cNvSpPr/>
          <p:nvPr/>
        </p:nvSpPr>
        <p:spPr>
          <a:xfrm>
            <a:off x="678656" y="3104462"/>
            <a:ext cx="2062144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CONFIGURATION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78656" y="3252694"/>
            <a:ext cx="66794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Kernel: RBF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78656" y="3384854"/>
            <a:ext cx="303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C: 10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78656" y="3517013"/>
            <a:ext cx="7286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Gamma: 0.001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433744" y="1570788"/>
            <a:ext cx="227648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KNN (K=3)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33744" y="2031560"/>
            <a:ext cx="227648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simple, instance-based learning algorithm that classifies based on the majority class of its nearest neighbors.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33744" y="2997305"/>
            <a:ext cx="2276484" cy="83581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2"/>
          <p:cNvSpPr/>
          <p:nvPr/>
        </p:nvSpPr>
        <p:spPr>
          <a:xfrm>
            <a:off x="3433744" y="2997305"/>
            <a:ext cx="2276484" cy="14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6" name="Text 13"/>
          <p:cNvSpPr/>
          <p:nvPr/>
        </p:nvSpPr>
        <p:spPr>
          <a:xfrm>
            <a:off x="3540900" y="3104462"/>
            <a:ext cx="2062172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CONFIGURATION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3540900" y="3252694"/>
            <a:ext cx="7286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Neighbors: 3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540900" y="3384854"/>
            <a:ext cx="103227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Metric: Euclidean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540900" y="3517013"/>
            <a:ext cx="9715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Weights: Uniform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296016" y="1570788"/>
            <a:ext cx="22764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96016" y="2031560"/>
            <a:ext cx="227645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ensemble method using multiple decision trees to improve accuracy and control over-fitting.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96016" y="2791588"/>
            <a:ext cx="2276456" cy="83581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20"/>
          <p:cNvSpPr/>
          <p:nvPr/>
        </p:nvSpPr>
        <p:spPr>
          <a:xfrm>
            <a:off x="6296016" y="2791588"/>
            <a:ext cx="2276456" cy="14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4" name="Text 21"/>
          <p:cNvSpPr/>
          <p:nvPr/>
        </p:nvSpPr>
        <p:spPr>
          <a:xfrm>
            <a:off x="6403172" y="2898744"/>
            <a:ext cx="2062144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CONFIGURATION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403172" y="3046977"/>
            <a:ext cx="91082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Estimators: 100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403172" y="3179136"/>
            <a:ext cx="91082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Criterion: Gini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403172" y="3311296"/>
            <a:ext cx="109299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Max Features: Sqrt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MODEL COMPARISON METRICS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440359"/>
            <a:ext cx="2164556" cy="312539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MODEL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36056" y="1440359"/>
            <a:ext cx="1685367" cy="312539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ACCURACY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421423" y="1440359"/>
            <a:ext cx="1568332" cy="312539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PRECISION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89755" y="1440359"/>
            <a:ext cx="1154804" cy="312539"/>
          </a:xfrm>
          <a:prstGeom prst="rect">
            <a:avLst/>
          </a:prstGeom>
          <a:noFill/>
          <a:ln/>
        </p:spPr>
        <p:txBody>
          <a:bodyPr wrap="none" lIns="8509" tIns="170053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RECALL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44559" y="1440359"/>
            <a:ext cx="1427941" cy="312539"/>
          </a:xfrm>
          <a:prstGeom prst="rect">
            <a:avLst/>
          </a:prstGeom>
          <a:noFill/>
          <a:ln/>
        </p:spPr>
        <p:txBody>
          <a:bodyPr wrap="square" lIns="8509" tIns="170053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F1-SCORE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1752898"/>
            <a:ext cx="2164556" cy="385763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36056" y="1752898"/>
            <a:ext cx="1685367" cy="385763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0.9500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21423" y="1752898"/>
            <a:ext cx="1568332" cy="385763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0.9667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755" y="1752898"/>
            <a:ext cx="1154804" cy="385763"/>
          </a:xfrm>
          <a:prstGeom prst="rect">
            <a:avLst/>
          </a:prstGeom>
          <a:noFill/>
          <a:ln/>
        </p:spPr>
        <p:txBody>
          <a:bodyPr wrap="non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0.9500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144559" y="1752898"/>
            <a:ext cx="1427941" cy="385763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0.9467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2138660"/>
            <a:ext cx="2164556" cy="382191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KNN (k=3)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36056" y="2138660"/>
            <a:ext cx="1685367" cy="382191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0.8125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21423" y="2138660"/>
            <a:ext cx="1568332" cy="382191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0.8083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89755" y="2138660"/>
            <a:ext cx="1154804" cy="382191"/>
          </a:xfrm>
          <a:prstGeom prst="rect">
            <a:avLst/>
          </a:prstGeom>
          <a:noFill/>
          <a:ln/>
        </p:spPr>
        <p:txBody>
          <a:bodyPr wrap="non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0.8125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144559" y="2138660"/>
            <a:ext cx="1427941" cy="382191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0.7842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" y="2520851"/>
            <a:ext cx="2164556" cy="382191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36056" y="2520851"/>
            <a:ext cx="1685367" cy="382191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0.9500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421423" y="2520851"/>
            <a:ext cx="1568332" cy="382191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0.9708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89755" y="2520851"/>
            <a:ext cx="1154804" cy="382191"/>
          </a:xfrm>
          <a:prstGeom prst="rect">
            <a:avLst/>
          </a:prstGeom>
          <a:noFill/>
          <a:ln/>
        </p:spPr>
        <p:txBody>
          <a:bodyPr wrap="non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0.9500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144559" y="2520851"/>
            <a:ext cx="1427941" cy="382191"/>
          </a:xfrm>
          <a:prstGeom prst="rect">
            <a:avLst/>
          </a:prstGeom>
          <a:noFill/>
          <a:ln/>
        </p:spPr>
        <p:txBody>
          <a:bodyPr wrap="square" lIns="8509" tIns="212598" rIns="8509" bIns="8509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0.9483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VISUALIZATIONS: MODEL COMPARISON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511210"/>
            <a:ext cx="28432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896973"/>
            <a:ext cx="284321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PERFORMANCE PARITY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2156631"/>
            <a:ext cx="254496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Both SVM and Random Forest achieved 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362349"/>
            <a:ext cx="266104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peak accuracy of 95%, demonstrating high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568067"/>
            <a:ext cx="203061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robustness in the feature space.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2968451"/>
            <a:ext cx="284321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KNN LIMITATIONS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3228110"/>
            <a:ext cx="276284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KNN lagged at 81.25%, likely due to the high-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" y="3433828"/>
            <a:ext cx="27235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dimensional nature of facial data even after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" y="3639545"/>
            <a:ext cx="9108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PCA reduction.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1500" y="4039930"/>
            <a:ext cx="284321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PIPELINE SUCCESS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4299589"/>
            <a:ext cx="274498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combination of DWT and PCA provided 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1500" y="4505306"/>
            <a:ext cx="27860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highly discriminative feature set for the top-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71500" y="4711024"/>
            <a:ext cx="90904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tier classifiers.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86250" y="1368921"/>
            <a:ext cx="4286250" cy="30146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0" y="1368921"/>
            <a:ext cx="4286250" cy="14288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511796"/>
            <a:ext cx="42862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57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VISUALIZATIONS: CONFUSION MATRIX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0334"/>
            <a:ext cx="3457575" cy="2314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3612059"/>
            <a:ext cx="444910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Model: Random Forest Classifier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5606393" y="1382623"/>
            <a:ext cx="296610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606393" y="1704091"/>
            <a:ext cx="2966107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Diagonal Density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606393" y="1996985"/>
            <a:ext cx="296610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strong diagonal line confirms that the majority of test samples were correctly classified for all 40 subjects.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606393" y="2871313"/>
            <a:ext cx="2966107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 Distribution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606393" y="3164207"/>
            <a:ext cx="296610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Minimal off-diagonal points indicate very low misclassification rates between different individuals.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606393" y="4038535"/>
            <a:ext cx="2966107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Robustness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606393" y="4331429"/>
            <a:ext cx="2966107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model demonstrates high reliability despite variations in facial expressions and lighting.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81769"/>
            <a:ext cx="85725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CONCLUSION &amp; FUTURE IMPROVEMENTS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511210"/>
            <a:ext cx="35647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896973"/>
            <a:ext cx="3564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Pipeline Success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2158054"/>
            <a:ext cx="28664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Successfully implemented a complete Pattern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2363772"/>
            <a:ext cx="335577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Recognition pipeline using DWT for feature extraction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" y="2569490"/>
            <a:ext cx="23431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PCA for dimensionality reduction.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2898437"/>
            <a:ext cx="3564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 Performance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71500" y="3159519"/>
            <a:ext cx="32950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SVM and Random Forest achieved a high accuracy of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" y="3365236"/>
            <a:ext cx="29021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95%, significantly outperforming KNN (81.25%).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" y="3765621"/>
            <a:ext cx="356473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All technical requirements fulfilled.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07769" y="1511210"/>
            <a:ext cx="35647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07769" y="1896973"/>
            <a:ext cx="3564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Architectures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07769" y="2158054"/>
            <a:ext cx="35129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Explore Deep Learning models (CNNs) and more complex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07769" y="2363772"/>
            <a:ext cx="331291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wavelet families for improved feature representation.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07769" y="2692719"/>
            <a:ext cx="356473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Optimization &amp; Scale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07769" y="2953801"/>
            <a:ext cx="31253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 automated hyperparameter tuning and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07769" y="3159519"/>
            <a:ext cx="339506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evaluate performance on larger, more diverse datasets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07769" y="3365236"/>
            <a:ext cx="51970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like LFW.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07769" y="3765621"/>
            <a:ext cx="356473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00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Target: Real-time robust recognition.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07581" y="1993106"/>
            <a:ext cx="2128838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200" b="1" spc="8" kern="0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Q&amp;A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2557463" y="3173611"/>
            <a:ext cx="40290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spc="2" kern="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 FOR YOUR ATTENTION!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054078" y="4488061"/>
            <a:ext cx="103584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2026-05-10T11:15:15Z</dcterms:created>
  <dcterms:modified xsi:type="dcterms:W3CDTF">2026-05-10T11:15:15Z</dcterms:modified>
</cp:coreProperties>
</file>